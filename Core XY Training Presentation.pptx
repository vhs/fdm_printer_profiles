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4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5" r:id="rId9"/>
    <p:sldId id="282" r:id="rId10"/>
    <p:sldId id="283" r:id="rId11"/>
    <p:sldId id="266" r:id="rId12"/>
    <p:sldId id="262" r:id="rId13"/>
    <p:sldId id="264" r:id="rId14"/>
    <p:sldId id="277" r:id="rId15"/>
    <p:sldId id="274" r:id="rId16"/>
    <p:sldId id="275" r:id="rId17"/>
    <p:sldId id="276" r:id="rId18"/>
    <p:sldId id="278" r:id="rId19"/>
    <p:sldId id="279" r:id="rId20"/>
    <p:sldId id="280" r:id="rId21"/>
    <p:sldId id="281" r:id="rId22"/>
    <p:sldId id="284" r:id="rId23"/>
    <p:sldId id="285" r:id="rId24"/>
    <p:sldId id="286" r:id="rId25"/>
    <p:sldId id="27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8"/>
    <p:restoredTop sz="94676"/>
  </p:normalViewPr>
  <p:slideViewPr>
    <p:cSldViewPr snapToGrid="0">
      <p:cViewPr varScale="1">
        <p:scale>
          <a:sx n="151" d="100"/>
          <a:sy n="151" d="100"/>
        </p:scale>
        <p:origin x="20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DF99F-7DC4-0848-AB23-9E4DED590C0A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69ABB8-4848-1A48-AEC0-8E66F37FD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48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69ABB8-4848-1A48-AEC0-8E66F37FDFA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97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CDEF2-6FFC-7313-6426-49CA87705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D80072-062F-A7D8-7443-A4054A76D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ADCF3B-95E3-D749-F8A6-7FDAC4FF3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62654-1D26-035E-6E69-02CB0C3FB4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69ABB8-4848-1A48-AEC0-8E66F37FDFA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132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DDD13-E1E6-7A28-0C67-882C8069D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8E1FE4-02F7-E36B-C1B5-401898B27F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397BF6-E31C-41FE-43D4-55E1CF4D9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44D34-71D6-6915-5F5B-9740FAC45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69ABB8-4848-1A48-AEC0-8E66F37FDFA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599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D699C-84B2-BA66-DF53-8FF29A4178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A5459-EA71-D1AE-748B-B87DB42A78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C354D-48CB-0DF4-9BC7-A1CE31CFF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37FE-C3C5-084C-AA9C-3870836E607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0BF77-4D97-80CC-DCAF-3FBFE0CD8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19B9C-3F45-0EE7-0F1A-B3D35D57A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B13FB-C333-D641-8ACA-C43E39C53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779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6B6F6-673B-0720-D3BF-3626A61B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3C778-36D4-6853-BDCF-33CE33364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95A5B-3BA3-DE9D-9800-491F1C558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37FE-C3C5-084C-AA9C-3870836E607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96471-7C03-FE99-F64D-1F3DEC01D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62D4C-4E03-C157-F58A-7464CD3FE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B13FB-C333-D641-8ACA-C43E39C53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440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7A638-AA2D-AC1C-1D8E-2132CE290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5C46C-E8C8-3C1A-473B-0CF12FC0C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5FA1D-5ABF-1E02-4ECA-3EA534E03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37FE-C3C5-084C-AA9C-3870836E607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0B968-829E-CCBA-DBC9-207F53307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19867-EBFC-9B30-48E4-CF088163B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B13FB-C333-D641-8ACA-C43E39C53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52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972B8-F21F-D640-CECF-6C579E251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A5F2C-2E34-B41B-3B5B-001AF48FD8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BCE22-BA0B-7935-C621-557B4534F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B7233-A101-7410-CF74-470060D3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37FE-C3C5-084C-AA9C-3870836E607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4278E-BA87-214C-CA38-51C8620F5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C5539-12CA-C927-66B7-D8337A739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B13FB-C333-D641-8ACA-C43E39C53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026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25700-BE44-7C9C-E028-82C7D9CC5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59779-311E-410D-7276-C1B9F6DE0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AF843E-D3C6-DB20-31FA-7129A24E1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C1DB46-6FD4-A9F0-6F8C-572B1D7A0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EA53EC-E792-91DA-0BA4-52C8A8D00D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29C905-A9FA-5E91-84A5-71D4A7971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37FE-C3C5-084C-AA9C-3870836E607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AE63A2-1D66-A0DB-ED06-D0223487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44A26C-47F8-C6F6-E158-6E1D364E4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B13FB-C333-D641-8ACA-C43E39C53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05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B461E-847C-CA0C-D3AB-7ACAF6242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A18355-ABDC-8D17-1166-437B8C5FC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37FE-C3C5-084C-AA9C-3870836E607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51C52-F5BA-E644-5CD0-D67D08F1E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3FB171-E818-F45F-B4AC-6DDB2BEDD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B13FB-C333-D641-8ACA-C43E39C53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5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136CBD-7196-8F5F-D55A-56BEAA9AB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37FE-C3C5-084C-AA9C-3870836E607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FE977F-9134-7E12-3FEE-D8A8BE4FB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A94A2-122A-B742-FB91-302FFDD3C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B13FB-C333-D641-8ACA-C43E39C53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82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11119-7169-F62A-D0AF-6CD836E0A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1AE66-F4E7-A790-3FD2-173115252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C97357-5509-67BD-3747-BE782EE40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F650A-98CB-6869-D9C1-6199DB604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37FE-C3C5-084C-AA9C-3870836E607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8F639-A174-40A1-2C02-4CE273C5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8D190-D1E3-AB13-EF59-6DC1F19C4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B13FB-C333-D641-8ACA-C43E39C53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08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7BB52-E56A-EEA8-D8D3-04C2DDE22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733742-011E-EAC0-BCE1-82BBED1229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F7ED9-4B75-E8D5-8DAD-97E2D8CBB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F5D53-ADFD-467D-9BEA-9500CCD8C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37FE-C3C5-084C-AA9C-3870836E607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A4F22-7026-A1DA-3751-8AD390930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8E69B-EF3E-7186-3477-F52C4908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B13FB-C333-D641-8ACA-C43E39C53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43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7FB96-5DD6-17D3-B8AC-BEC0994CD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A5E5E3-B641-DA6F-65BB-0E7D433DC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601F1-75C7-0265-AD0D-4A20CC3AB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37FE-C3C5-084C-AA9C-3870836E607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34378-A70D-1F7C-06E1-783E8C5BE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C09DE-87B7-6536-1C71-8A87FDD7B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B13FB-C333-D641-8ACA-C43E39C53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476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112780-8172-30E2-1CEA-4EAED8F4A2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B28267-39C8-0978-5034-3DD467852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4265C-D78A-2B8D-EC29-F88B3A40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137FE-C3C5-084C-AA9C-3870836E607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4366E-40E9-C69A-43CD-43AAB31B4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FF127-3996-9A75-BDD2-027D3D7D5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B13FB-C333-D641-8ACA-C43E39C53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56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0D992-9F06-22F7-063F-A6811BD58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EC980-18AE-BD4F-4733-F086BCEB2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3FA63-A604-648D-6FAF-39A954937E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137FE-C3C5-084C-AA9C-3870836E6077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1B063-D76C-11CD-D173-DB543F04B6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B83EA-F8AC-DF3F-BBF4-B438E56C7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DB13FB-C333-D641-8ACA-C43E39C533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60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6BDE7-ED2E-FB6B-AADE-159D6182B9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Core X-Y Printer Printer Training Guide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55047-F35F-1D5A-85CC-22D8CB2D62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2026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5DD1EBE-1471-2DAB-378C-3CBE45B66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824" y="5935716"/>
            <a:ext cx="1273066" cy="6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DB5E39-3AC6-8CDD-AE86-CE7667AA55F0}"/>
              </a:ext>
            </a:extLst>
          </p:cNvPr>
          <p:cNvSpPr txBox="1"/>
          <p:nvPr/>
        </p:nvSpPr>
        <p:spPr>
          <a:xfrm>
            <a:off x="6831208" y="5935716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The Vancouver Hack Space Society</a:t>
            </a:r>
          </a:p>
          <a:p>
            <a:pPr algn="r"/>
            <a:r>
              <a:rPr lang="en-US" sz="1400" dirty="0"/>
              <a:t>1601 Venables St, Vancouver BC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C9DF54-3CC8-FC7D-AE29-08528A322B66}"/>
              </a:ext>
            </a:extLst>
          </p:cNvPr>
          <p:cNvSpPr/>
          <p:nvPr/>
        </p:nvSpPr>
        <p:spPr>
          <a:xfrm>
            <a:off x="252248" y="191814"/>
            <a:ext cx="11687503" cy="6474372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050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60E0B-0DE0-F764-7AFE-E98E54487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Our Core </a:t>
            </a:r>
            <a:r>
              <a:rPr lang="en-US" b="1"/>
              <a:t>X-Y Printers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D1E26-355D-C33D-2F51-FB2AFA952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7546"/>
            <a:ext cx="10515600" cy="584776"/>
          </a:xfrm>
        </p:spPr>
        <p:txBody>
          <a:bodyPr/>
          <a:lstStyle/>
          <a:p>
            <a:r>
              <a:rPr lang="en-US" dirty="0"/>
              <a:t>Not Hackable.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A290727-7A96-A01D-2A87-0154CDACD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824" y="5935716"/>
            <a:ext cx="1273066" cy="6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870E3C-6545-7218-C291-336F958EF2DC}"/>
              </a:ext>
            </a:extLst>
          </p:cNvPr>
          <p:cNvSpPr txBox="1"/>
          <p:nvPr/>
        </p:nvSpPr>
        <p:spPr>
          <a:xfrm>
            <a:off x="7178674" y="5935716"/>
            <a:ext cx="3120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Core X-Y Printer Training Guide</a:t>
            </a:r>
          </a:p>
          <a:p>
            <a:pPr algn="r"/>
            <a:r>
              <a:rPr lang="en-US" sz="1400" dirty="0"/>
              <a:t>© The Vancouver Hackspace Society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95CE63-92B0-8C98-5EDA-E18FA25FDFD9}"/>
              </a:ext>
            </a:extLst>
          </p:cNvPr>
          <p:cNvSpPr/>
          <p:nvPr/>
        </p:nvSpPr>
        <p:spPr>
          <a:xfrm>
            <a:off x="252248" y="191814"/>
            <a:ext cx="11687503" cy="6474372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074A45-B755-4ADA-68BD-2177AC7AA6E2}"/>
              </a:ext>
            </a:extLst>
          </p:cNvPr>
          <p:cNvSpPr txBox="1"/>
          <p:nvPr/>
        </p:nvSpPr>
        <p:spPr>
          <a:xfrm>
            <a:off x="1058917" y="2550504"/>
            <a:ext cx="1037633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CA" sz="2000" dirty="0"/>
              <a:t>Do not hack.</a:t>
            </a:r>
          </a:p>
          <a:p>
            <a:pPr fontAlgn="base"/>
            <a:endParaRPr lang="en-CA" sz="2000" dirty="0"/>
          </a:p>
          <a:p>
            <a:pPr fontAlgn="base"/>
            <a:r>
              <a:rPr lang="en-CA" sz="2000" dirty="0"/>
              <a:t>Do not attempt any fixes.</a:t>
            </a:r>
          </a:p>
          <a:p>
            <a:pPr fontAlgn="base"/>
            <a:endParaRPr lang="en-CA" sz="2000" dirty="0"/>
          </a:p>
          <a:p>
            <a:pPr fontAlgn="base"/>
            <a:r>
              <a:rPr lang="en-CA" sz="2000" dirty="0"/>
              <a:t>If something seems different, stop and post on #3dPrinting</a:t>
            </a:r>
          </a:p>
        </p:txBody>
      </p:sp>
    </p:spTree>
    <p:extLst>
      <p:ext uri="{BB962C8B-B14F-4D97-AF65-F5344CB8AC3E}">
        <p14:creationId xmlns:p14="http://schemas.microsoft.com/office/powerpoint/2010/main" val="218911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9FA03-F027-A102-3087-CBA215AE0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Core X-Y Printer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492FCFD-B9DF-0F52-9069-2FD79D0E5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824" y="5935716"/>
            <a:ext cx="1273066" cy="6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93D794-FCD6-0970-3F4E-1AEFA07E7912}"/>
              </a:ext>
            </a:extLst>
          </p:cNvPr>
          <p:cNvSpPr txBox="1"/>
          <p:nvPr/>
        </p:nvSpPr>
        <p:spPr>
          <a:xfrm>
            <a:off x="7178674" y="5935716"/>
            <a:ext cx="3120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Core X-Y Printer Training Guide</a:t>
            </a:r>
          </a:p>
          <a:p>
            <a:pPr algn="r"/>
            <a:r>
              <a:rPr lang="en-US" sz="1400" dirty="0"/>
              <a:t>© The Vancouver Hackspace Society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E23251-9767-A8C7-40EE-98187B767FD7}"/>
              </a:ext>
            </a:extLst>
          </p:cNvPr>
          <p:cNvSpPr/>
          <p:nvPr/>
        </p:nvSpPr>
        <p:spPr>
          <a:xfrm>
            <a:off x="252248" y="191814"/>
            <a:ext cx="11687503" cy="6474372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oreXY Kinematics – 3D Distributed">
            <a:extLst>
              <a:ext uri="{FF2B5EF4-FFF2-40B4-BE49-F238E27FC236}">
                <a16:creationId xmlns:a16="http://schemas.microsoft.com/office/drawing/2014/main" id="{2B45E8CD-1217-15F3-48C3-B1F040275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300" y="1456406"/>
            <a:ext cx="6007699" cy="4771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24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83E32-0C58-3EA7-8B0B-AD23E3B95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7D78D-302B-422A-F002-E90805FC3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6765"/>
            <a:ext cx="10515600" cy="1126799"/>
          </a:xfrm>
        </p:spPr>
        <p:txBody>
          <a:bodyPr>
            <a:normAutofit/>
          </a:bodyPr>
          <a:lstStyle/>
          <a:p>
            <a:r>
              <a:rPr lang="en-US" b="1" dirty="0"/>
              <a:t>The Voron Project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303F1D7-CBB8-983C-7E51-05D9760DD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824" y="5935716"/>
            <a:ext cx="1273066" cy="6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1EC1B0-CE87-7E6B-8081-CAB57964C413}"/>
              </a:ext>
            </a:extLst>
          </p:cNvPr>
          <p:cNvSpPr txBox="1"/>
          <p:nvPr/>
        </p:nvSpPr>
        <p:spPr>
          <a:xfrm>
            <a:off x="7178674" y="5935716"/>
            <a:ext cx="3120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Core X-Y Printer Training Guide</a:t>
            </a:r>
          </a:p>
          <a:p>
            <a:pPr algn="r"/>
            <a:r>
              <a:rPr lang="en-US" sz="1400" dirty="0"/>
              <a:t>© The Vancouver Hackspace Society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66D0E5-D341-76D6-34DC-839633DE4561}"/>
              </a:ext>
            </a:extLst>
          </p:cNvPr>
          <p:cNvSpPr/>
          <p:nvPr/>
        </p:nvSpPr>
        <p:spPr>
          <a:xfrm>
            <a:off x="252248" y="191814"/>
            <a:ext cx="11687503" cy="6474372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06E31A-0559-5419-02E6-8641ACFC1F54}"/>
              </a:ext>
            </a:extLst>
          </p:cNvPr>
          <p:cNvSpPr txBox="1"/>
          <p:nvPr/>
        </p:nvSpPr>
        <p:spPr>
          <a:xfrm>
            <a:off x="838200" y="2427778"/>
            <a:ext cx="98785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0" i="0" u="none" strike="noStrike" dirty="0">
                <a:effectLst/>
                <a:latin typeface="-apple-system"/>
              </a:rPr>
              <a:t>The original goal of the VORON project, back in 2015, was to create a </a:t>
            </a:r>
            <a:r>
              <a:rPr lang="en-CA" b="1" i="0" u="none" strike="noStrike" dirty="0">
                <a:effectLst/>
                <a:latin typeface="-apple-system"/>
              </a:rPr>
              <a:t>no-compromise</a:t>
            </a:r>
            <a:r>
              <a:rPr lang="en-CA" b="0" i="0" u="none" strike="noStrike" dirty="0">
                <a:effectLst/>
                <a:latin typeface="-apple-system"/>
              </a:rPr>
              <a:t> 3D printer that was </a:t>
            </a:r>
            <a:r>
              <a:rPr lang="en-CA" b="1" i="0" u="none" strike="noStrike" dirty="0">
                <a:effectLst/>
                <a:latin typeface="-apple-system"/>
              </a:rPr>
              <a:t>fun to assemble and a joy to use</a:t>
            </a:r>
            <a:r>
              <a:rPr lang="en-CA" b="0" i="0" u="none" strike="noStrike" dirty="0">
                <a:effectLst/>
                <a:latin typeface="-apple-system"/>
              </a:rPr>
              <a:t>. It had to be </a:t>
            </a:r>
            <a:r>
              <a:rPr lang="en-CA" b="1" i="0" u="none" strike="noStrike" dirty="0">
                <a:effectLst/>
                <a:latin typeface="-apple-system"/>
              </a:rPr>
              <a:t>quiet, clean, pretty, and continue to operate 24 hours </a:t>
            </a:r>
            <a:r>
              <a:rPr lang="en-CA" b="0" i="0" u="none" strike="noStrike" dirty="0">
                <a:effectLst/>
                <a:latin typeface="-apple-system"/>
              </a:rPr>
              <a:t>a day without requiring constant fiddling. In short a true home micro-manufacturing machine without a hefty price tag.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D3F627-87C1-4B5D-CE17-D9A7A45C23D4}"/>
              </a:ext>
            </a:extLst>
          </p:cNvPr>
          <p:cNvSpPr txBox="1"/>
          <p:nvPr/>
        </p:nvSpPr>
        <p:spPr>
          <a:xfrm>
            <a:off x="838200" y="1846357"/>
            <a:ext cx="10853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CA" sz="2000" dirty="0">
                <a:solidFill>
                  <a:srgbClr val="C00000"/>
                </a:solidFill>
                <a:effectLst/>
                <a:latin typeface="Helvetica" pitchFamily="2" charset="0"/>
              </a:rPr>
              <a:t>We build space shuttles with gardening tools so anyone can have a space shuttle of their own.</a:t>
            </a:r>
          </a:p>
        </p:txBody>
      </p:sp>
    </p:spTree>
    <p:extLst>
      <p:ext uri="{BB962C8B-B14F-4D97-AF65-F5344CB8AC3E}">
        <p14:creationId xmlns:p14="http://schemas.microsoft.com/office/powerpoint/2010/main" val="3539002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EF9AC-1011-7035-913B-C8C2B93E6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90383FF6-D1A3-B32D-EFA9-4E22290C0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824" y="5935716"/>
            <a:ext cx="1273066" cy="6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F44B2B-09F4-B9D5-A446-648202E3C027}"/>
              </a:ext>
            </a:extLst>
          </p:cNvPr>
          <p:cNvSpPr txBox="1"/>
          <p:nvPr/>
        </p:nvSpPr>
        <p:spPr>
          <a:xfrm>
            <a:off x="7178674" y="5935716"/>
            <a:ext cx="3120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Core X-Y Printer Training Guide</a:t>
            </a:r>
          </a:p>
          <a:p>
            <a:pPr algn="r"/>
            <a:r>
              <a:rPr lang="en-US" sz="1400" dirty="0"/>
              <a:t>© The Vancouver Hackspace Society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750207-C525-6896-10F8-85927752BBD9}"/>
              </a:ext>
            </a:extLst>
          </p:cNvPr>
          <p:cNvSpPr/>
          <p:nvPr/>
        </p:nvSpPr>
        <p:spPr>
          <a:xfrm>
            <a:off x="252248" y="191814"/>
            <a:ext cx="11687503" cy="6474372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9E3C0B1-AD7B-D0C4-E246-23C8DF65A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786" y="1782278"/>
            <a:ext cx="3146622" cy="256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1502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94C06-1CCC-36A0-A4B2-ADEF02CD2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F680D94E-A86A-3EE8-ACD7-DCAC996BD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824" y="5935716"/>
            <a:ext cx="1273066" cy="6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504BFF-0EFC-F5F9-608B-F34ED6A77316}"/>
              </a:ext>
            </a:extLst>
          </p:cNvPr>
          <p:cNvSpPr txBox="1"/>
          <p:nvPr/>
        </p:nvSpPr>
        <p:spPr>
          <a:xfrm>
            <a:off x="7178674" y="5935716"/>
            <a:ext cx="3120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Core X-Y Printer Training Guide</a:t>
            </a:r>
          </a:p>
          <a:p>
            <a:pPr algn="r"/>
            <a:r>
              <a:rPr lang="en-US" sz="1400" dirty="0"/>
              <a:t>© The Vancouver Hackspace Society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695E50-16B4-DA02-04CC-2BBF2D44DEE5}"/>
              </a:ext>
            </a:extLst>
          </p:cNvPr>
          <p:cNvSpPr/>
          <p:nvPr/>
        </p:nvSpPr>
        <p:spPr>
          <a:xfrm>
            <a:off x="252248" y="191814"/>
            <a:ext cx="11687503" cy="6474372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6E06811-035C-9550-5340-60418E097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786" y="866025"/>
            <a:ext cx="3146622" cy="256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C3061F9-3AEB-40BE-6DFA-DEA28CB7A10F}"/>
              </a:ext>
            </a:extLst>
          </p:cNvPr>
          <p:cNvSpPr txBox="1"/>
          <p:nvPr/>
        </p:nvSpPr>
        <p:spPr>
          <a:xfrm>
            <a:off x="4320786" y="3429000"/>
            <a:ext cx="31466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Advantages</a:t>
            </a:r>
          </a:p>
        </p:txBody>
      </p:sp>
    </p:spTree>
    <p:extLst>
      <p:ext uri="{BB962C8B-B14F-4D97-AF65-F5344CB8AC3E}">
        <p14:creationId xmlns:p14="http://schemas.microsoft.com/office/powerpoint/2010/main" val="1187796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35E4A-7AA8-1FD4-A698-C63ED3BAC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BEE2B900-2E3C-609B-C422-B3C92D9C4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824" y="5935716"/>
            <a:ext cx="1273066" cy="6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2A02E0-7B66-4457-63B3-6BB1B38F87EC}"/>
              </a:ext>
            </a:extLst>
          </p:cNvPr>
          <p:cNvSpPr txBox="1"/>
          <p:nvPr/>
        </p:nvSpPr>
        <p:spPr>
          <a:xfrm>
            <a:off x="7178674" y="5935716"/>
            <a:ext cx="3120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Core X-Y Printer Training Guide</a:t>
            </a:r>
          </a:p>
          <a:p>
            <a:pPr algn="r"/>
            <a:r>
              <a:rPr lang="en-US" sz="1400" dirty="0"/>
              <a:t>© The Vancouver Hackspace Society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05FB6C-5BCF-A8C8-5A2D-605F4F8D6E47}"/>
              </a:ext>
            </a:extLst>
          </p:cNvPr>
          <p:cNvSpPr/>
          <p:nvPr/>
        </p:nvSpPr>
        <p:spPr>
          <a:xfrm>
            <a:off x="252248" y="191814"/>
            <a:ext cx="11687503" cy="6474372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A6F4FD5D-F81C-4900-C720-E265B3A79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786" y="866025"/>
            <a:ext cx="3146622" cy="256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9B6F77B-E2F8-502F-6501-91F68055A07D}"/>
              </a:ext>
            </a:extLst>
          </p:cNvPr>
          <p:cNvSpPr txBox="1"/>
          <p:nvPr/>
        </p:nvSpPr>
        <p:spPr>
          <a:xfrm>
            <a:off x="2686372" y="3687712"/>
            <a:ext cx="6819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Dangers + Responsibilities</a:t>
            </a:r>
          </a:p>
        </p:txBody>
      </p:sp>
    </p:spTree>
    <p:extLst>
      <p:ext uri="{BB962C8B-B14F-4D97-AF65-F5344CB8AC3E}">
        <p14:creationId xmlns:p14="http://schemas.microsoft.com/office/powerpoint/2010/main" val="2943805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2DC1A-27F8-1D48-1DA0-4A323BCAB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8FA6FB39-E527-F865-8E34-1F9BDF18E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824" y="5935716"/>
            <a:ext cx="1273066" cy="6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6AC9DF-433C-1877-68B3-95B4E9FD63D6}"/>
              </a:ext>
            </a:extLst>
          </p:cNvPr>
          <p:cNvSpPr txBox="1"/>
          <p:nvPr/>
        </p:nvSpPr>
        <p:spPr>
          <a:xfrm>
            <a:off x="7178674" y="5935716"/>
            <a:ext cx="3120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Core X-Y Printer Training Guide</a:t>
            </a:r>
          </a:p>
          <a:p>
            <a:pPr algn="r"/>
            <a:r>
              <a:rPr lang="en-US" sz="1400" dirty="0"/>
              <a:t>© The Vancouver Hackspace Society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54A72D-79FC-D397-167E-23C3B97135EF}"/>
              </a:ext>
            </a:extLst>
          </p:cNvPr>
          <p:cNvSpPr/>
          <p:nvPr/>
        </p:nvSpPr>
        <p:spPr>
          <a:xfrm>
            <a:off x="252248" y="191814"/>
            <a:ext cx="11687503" cy="6474372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Prusa i3 MK3S specs, compatibility &amp; slicer guide - SimplyPrint">
            <a:extLst>
              <a:ext uri="{FF2B5EF4-FFF2-40B4-BE49-F238E27FC236}">
                <a16:creationId xmlns:a16="http://schemas.microsoft.com/office/drawing/2014/main" id="{AFCFD220-A7B8-412D-6A0C-25F57BBBD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12" y="2065057"/>
            <a:ext cx="3527286" cy="3527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LDO Motors Voron 2.4 350 Kit - 3DJake International">
            <a:extLst>
              <a:ext uri="{FF2B5EF4-FFF2-40B4-BE49-F238E27FC236}">
                <a16:creationId xmlns:a16="http://schemas.microsoft.com/office/drawing/2014/main" id="{091E1265-CD15-28DB-ED4F-A1DEAEF98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417" y="2329239"/>
            <a:ext cx="2878826" cy="2998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38AE62-0F57-F7D0-EEE6-D1B47F130BB5}"/>
              </a:ext>
            </a:extLst>
          </p:cNvPr>
          <p:cNvSpPr txBox="1"/>
          <p:nvPr/>
        </p:nvSpPr>
        <p:spPr>
          <a:xfrm>
            <a:off x="5700792" y="3443979"/>
            <a:ext cx="7904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2769978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A1FB2-0025-AEBB-FA44-B237083F5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5C4EC81D-978C-FD3D-D4F2-821DE2F9E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824" y="5935716"/>
            <a:ext cx="1273066" cy="6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721F5D-4E7F-E05A-7123-3C351276DDAD}"/>
              </a:ext>
            </a:extLst>
          </p:cNvPr>
          <p:cNvSpPr txBox="1"/>
          <p:nvPr/>
        </p:nvSpPr>
        <p:spPr>
          <a:xfrm>
            <a:off x="7178674" y="5935716"/>
            <a:ext cx="3120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Core X-Y Printer Training Guide</a:t>
            </a:r>
          </a:p>
          <a:p>
            <a:pPr algn="r"/>
            <a:r>
              <a:rPr lang="en-US" sz="1400" dirty="0"/>
              <a:t>© The Vancouver Hackspace Society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13EA99-AFF0-739B-D4E3-E1FB3A53ED9C}"/>
              </a:ext>
            </a:extLst>
          </p:cNvPr>
          <p:cNvSpPr/>
          <p:nvPr/>
        </p:nvSpPr>
        <p:spPr>
          <a:xfrm>
            <a:off x="252248" y="191814"/>
            <a:ext cx="11687503" cy="6474372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6" name="Picture 6" descr="LDO Motors Voron 2.4 350 Kit - 3DJake International">
            <a:extLst>
              <a:ext uri="{FF2B5EF4-FFF2-40B4-BE49-F238E27FC236}">
                <a16:creationId xmlns:a16="http://schemas.microsoft.com/office/drawing/2014/main" id="{512DDAA7-3C21-D5B1-5276-9F420CC00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10" y="1683436"/>
            <a:ext cx="2878826" cy="2998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C1761B-A558-52C4-02F2-354C0ABEF999}"/>
              </a:ext>
            </a:extLst>
          </p:cNvPr>
          <p:cNvSpPr txBox="1"/>
          <p:nvPr/>
        </p:nvSpPr>
        <p:spPr>
          <a:xfrm>
            <a:off x="4288725" y="1584444"/>
            <a:ext cx="51228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Prepare the printer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6C480E-F6DA-89D8-A00C-4778C666614D}"/>
              </a:ext>
            </a:extLst>
          </p:cNvPr>
          <p:cNvSpPr txBox="1"/>
          <p:nvPr/>
        </p:nvSpPr>
        <p:spPr>
          <a:xfrm>
            <a:off x="4288725" y="2490399"/>
            <a:ext cx="728316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Is the build plate clean? Wash and dry it anyway!</a:t>
            </a:r>
          </a:p>
          <a:p>
            <a:endParaRPr lang="en-US" sz="2800" dirty="0"/>
          </a:p>
          <a:p>
            <a:r>
              <a:rPr lang="en-US" sz="2800" dirty="0"/>
              <a:t>Does everything look okay? Any fasters undone?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Flying gantries don’t like to be touched!</a:t>
            </a:r>
          </a:p>
          <a:p>
            <a:br>
              <a:rPr lang="en-US" sz="2800" dirty="0"/>
            </a:br>
            <a:r>
              <a:rPr lang="en-US" sz="2800" dirty="0"/>
              <a:t>Filament HAS to be cut at 45 degrees</a:t>
            </a:r>
          </a:p>
        </p:txBody>
      </p:sp>
    </p:spTree>
    <p:extLst>
      <p:ext uri="{BB962C8B-B14F-4D97-AF65-F5344CB8AC3E}">
        <p14:creationId xmlns:p14="http://schemas.microsoft.com/office/powerpoint/2010/main" val="3386034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9E3F8-A62A-9029-C5E1-3071BEB36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3D01EE79-4129-5E7F-650C-00AA2C259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824" y="5935716"/>
            <a:ext cx="1273066" cy="6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A0AD4D-C898-01CE-A1EB-6671AA69C4FE}"/>
              </a:ext>
            </a:extLst>
          </p:cNvPr>
          <p:cNvSpPr txBox="1"/>
          <p:nvPr/>
        </p:nvSpPr>
        <p:spPr>
          <a:xfrm>
            <a:off x="7178674" y="5935716"/>
            <a:ext cx="3120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Core X-Y Printer Training Guide</a:t>
            </a:r>
          </a:p>
          <a:p>
            <a:pPr algn="r"/>
            <a:r>
              <a:rPr lang="en-US" sz="1400" dirty="0"/>
              <a:t>© The Vancouver Hackspace Society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AE307C-FB24-433B-10EC-65E04594F895}"/>
              </a:ext>
            </a:extLst>
          </p:cNvPr>
          <p:cNvSpPr/>
          <p:nvPr/>
        </p:nvSpPr>
        <p:spPr>
          <a:xfrm>
            <a:off x="252248" y="191814"/>
            <a:ext cx="11687503" cy="6474372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434" name="Picture 2" descr="What is Lava? | Volcano Glossary | Perlan">
            <a:extLst>
              <a:ext uri="{FF2B5EF4-FFF2-40B4-BE49-F238E27FC236}">
                <a16:creationId xmlns:a16="http://schemas.microsoft.com/office/drawing/2014/main" id="{51C8A12B-2946-F775-8B82-ABCDF30F1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4922" y="699157"/>
            <a:ext cx="5662155" cy="3767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DDA13D-F36F-882A-6ECF-FBDF0E5CEDEB}"/>
              </a:ext>
            </a:extLst>
          </p:cNvPr>
          <p:cNvSpPr txBox="1"/>
          <p:nvPr/>
        </p:nvSpPr>
        <p:spPr>
          <a:xfrm>
            <a:off x="3363078" y="4620464"/>
            <a:ext cx="60796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Bed is Lava! Leave it alone</a:t>
            </a:r>
          </a:p>
        </p:txBody>
      </p:sp>
    </p:spTree>
    <p:extLst>
      <p:ext uri="{BB962C8B-B14F-4D97-AF65-F5344CB8AC3E}">
        <p14:creationId xmlns:p14="http://schemas.microsoft.com/office/powerpoint/2010/main" val="4275596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0901B-53E1-7CD9-195A-B8D486048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9FC052E6-D2BE-C595-0AF0-6EB884B7B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824" y="5935716"/>
            <a:ext cx="1273066" cy="6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BD4B60-E50C-0DDE-9C8B-3AD6172F6EC6}"/>
              </a:ext>
            </a:extLst>
          </p:cNvPr>
          <p:cNvSpPr txBox="1"/>
          <p:nvPr/>
        </p:nvSpPr>
        <p:spPr>
          <a:xfrm>
            <a:off x="7178674" y="5935716"/>
            <a:ext cx="3120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Core X-Y Printer Training Guide</a:t>
            </a:r>
          </a:p>
          <a:p>
            <a:pPr algn="r"/>
            <a:r>
              <a:rPr lang="en-US" sz="1400" dirty="0"/>
              <a:t>© The Vancouver Hackspace Society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513F7A-C39A-2E47-DFC1-C1D1252D1B06}"/>
              </a:ext>
            </a:extLst>
          </p:cNvPr>
          <p:cNvSpPr/>
          <p:nvPr/>
        </p:nvSpPr>
        <p:spPr>
          <a:xfrm>
            <a:off x="252248" y="191814"/>
            <a:ext cx="11687503" cy="6474372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Orca Slicer - Free Open-Source 3D Model Slicing Software">
            <a:extLst>
              <a:ext uri="{FF2B5EF4-FFF2-40B4-BE49-F238E27FC236}">
                <a16:creationId xmlns:a16="http://schemas.microsoft.com/office/drawing/2014/main" id="{CE19A38B-3573-D768-F5BA-64E569719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6450" y="1051973"/>
            <a:ext cx="3419098" cy="3419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B884CA-1E6F-9B7D-FC75-A2A6765EA9A2}"/>
              </a:ext>
            </a:extLst>
          </p:cNvPr>
          <p:cNvSpPr txBox="1"/>
          <p:nvPr/>
        </p:nvSpPr>
        <p:spPr>
          <a:xfrm>
            <a:off x="4726788" y="4941783"/>
            <a:ext cx="2761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Verify the source!</a:t>
            </a:r>
          </a:p>
        </p:txBody>
      </p:sp>
    </p:spTree>
    <p:extLst>
      <p:ext uri="{BB962C8B-B14F-4D97-AF65-F5344CB8AC3E}">
        <p14:creationId xmlns:p14="http://schemas.microsoft.com/office/powerpoint/2010/main" val="3423992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4BC74-B7D5-2650-9C66-B1486C5B9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734C9E38-5961-4D7B-C2D2-C6BAB789C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824" y="5935716"/>
            <a:ext cx="1273066" cy="6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657756-4456-B7DD-BA2D-53E3EC6B0EB7}"/>
              </a:ext>
            </a:extLst>
          </p:cNvPr>
          <p:cNvSpPr txBox="1"/>
          <p:nvPr/>
        </p:nvSpPr>
        <p:spPr>
          <a:xfrm>
            <a:off x="7178674" y="5935716"/>
            <a:ext cx="3120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Core X-Y Printer Training Guide</a:t>
            </a:r>
          </a:p>
          <a:p>
            <a:pPr algn="r"/>
            <a:r>
              <a:rPr lang="en-US" sz="1400" dirty="0"/>
              <a:t>© The Vancouver Hackspace Society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57C96B-4582-034B-A7D7-657AC9B50B26}"/>
              </a:ext>
            </a:extLst>
          </p:cNvPr>
          <p:cNvSpPr/>
          <p:nvPr/>
        </p:nvSpPr>
        <p:spPr>
          <a:xfrm>
            <a:off x="252248" y="191814"/>
            <a:ext cx="11687503" cy="6474372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E4B25A-C0B4-7399-312E-69060E3662CF}"/>
              </a:ext>
            </a:extLst>
          </p:cNvPr>
          <p:cNvSpPr txBox="1"/>
          <p:nvPr/>
        </p:nvSpPr>
        <p:spPr>
          <a:xfrm>
            <a:off x="4374393" y="3167390"/>
            <a:ext cx="3824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Download Orca Profiles</a:t>
            </a:r>
          </a:p>
        </p:txBody>
      </p:sp>
    </p:spTree>
    <p:extLst>
      <p:ext uri="{BB962C8B-B14F-4D97-AF65-F5344CB8AC3E}">
        <p14:creationId xmlns:p14="http://schemas.microsoft.com/office/powerpoint/2010/main" val="2685046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BBA77-0F6B-25F5-C25F-6B5C5D8A1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C255-BAC0-7302-33D3-82338AD96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796" y="530817"/>
            <a:ext cx="4645105" cy="1189235"/>
          </a:xfrm>
        </p:spPr>
        <p:txBody>
          <a:bodyPr>
            <a:normAutofit fontScale="90000"/>
          </a:bodyPr>
          <a:lstStyle/>
          <a:p>
            <a:r>
              <a:rPr lang="en-CA" dirty="0"/>
              <a:t>Introduction to Orca:</a:t>
            </a:r>
            <a:endParaRPr lang="en-CA" b="1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8099F2A-772B-842D-D162-9CB1A7243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824" y="5935716"/>
            <a:ext cx="1273066" cy="6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789495-CAF2-D8ED-BA9A-35043A013FA1}"/>
              </a:ext>
            </a:extLst>
          </p:cNvPr>
          <p:cNvSpPr txBox="1"/>
          <p:nvPr/>
        </p:nvSpPr>
        <p:spPr>
          <a:xfrm>
            <a:off x="7178674" y="5935716"/>
            <a:ext cx="3120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Core X-Y Printer Training Guide</a:t>
            </a:r>
          </a:p>
          <a:p>
            <a:pPr algn="r"/>
            <a:r>
              <a:rPr lang="en-US" sz="1400" dirty="0"/>
              <a:t>© The Vancouver Hackspace Society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1E6660-5433-B721-6225-1420E998C2F9}"/>
              </a:ext>
            </a:extLst>
          </p:cNvPr>
          <p:cNvSpPr/>
          <p:nvPr/>
        </p:nvSpPr>
        <p:spPr>
          <a:xfrm>
            <a:off x="252248" y="191814"/>
            <a:ext cx="11687503" cy="6474372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D5A9F4-0329-AE55-DC02-E7CD391BB17D}"/>
              </a:ext>
            </a:extLst>
          </p:cNvPr>
          <p:cNvSpPr txBox="1"/>
          <p:nvPr/>
        </p:nvSpPr>
        <p:spPr>
          <a:xfrm>
            <a:off x="825796" y="1878825"/>
            <a:ext cx="10376338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CA" sz="2800" dirty="0"/>
              <a:t>Printer Profiles</a:t>
            </a:r>
          </a:p>
          <a:p>
            <a:pPr fontAlgn="base"/>
            <a:endParaRPr lang="en-CA" sz="3200" dirty="0"/>
          </a:p>
          <a:p>
            <a:pPr fontAlgn="base"/>
            <a:r>
              <a:rPr lang="en-CA" sz="2800" dirty="0"/>
              <a:t>Filament Profiles</a:t>
            </a:r>
          </a:p>
          <a:p>
            <a:pPr fontAlgn="base"/>
            <a:endParaRPr lang="en-CA" sz="3200" dirty="0"/>
          </a:p>
          <a:p>
            <a:pPr fontAlgn="base"/>
            <a:r>
              <a:rPr lang="en-CA" sz="2800" dirty="0"/>
              <a:t>Print Profiles (Different from printer profiles)</a:t>
            </a:r>
          </a:p>
        </p:txBody>
      </p:sp>
    </p:spTree>
    <p:extLst>
      <p:ext uri="{BB962C8B-B14F-4D97-AF65-F5344CB8AC3E}">
        <p14:creationId xmlns:p14="http://schemas.microsoft.com/office/powerpoint/2010/main" val="2382587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B2131-65ED-2D8B-D944-559B8ECA0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C6E3A-D4D3-2B4E-D5F5-CC3F221F9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3161" y="4214802"/>
            <a:ext cx="4285673" cy="1189235"/>
          </a:xfrm>
        </p:spPr>
        <p:txBody>
          <a:bodyPr>
            <a:normAutofit/>
          </a:bodyPr>
          <a:lstStyle/>
          <a:p>
            <a:r>
              <a:rPr lang="en-CA" dirty="0"/>
              <a:t>Prepare Your File!</a:t>
            </a:r>
            <a:endParaRPr lang="en-CA" b="1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45DF0E0-D933-15CB-F7D8-1D0E27D7F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824" y="5935716"/>
            <a:ext cx="1273066" cy="6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FB7DA2-9B45-6384-5F1B-FA51118F054A}"/>
              </a:ext>
            </a:extLst>
          </p:cNvPr>
          <p:cNvSpPr txBox="1"/>
          <p:nvPr/>
        </p:nvSpPr>
        <p:spPr>
          <a:xfrm>
            <a:off x="7178674" y="5935716"/>
            <a:ext cx="3120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Core X-Y Printer Training Guide</a:t>
            </a:r>
          </a:p>
          <a:p>
            <a:pPr algn="r"/>
            <a:r>
              <a:rPr lang="en-US" sz="1400" dirty="0"/>
              <a:t>© The Vancouver Hackspace Society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6619AC-9E90-9C9C-E49E-6BF78F10A3D0}"/>
              </a:ext>
            </a:extLst>
          </p:cNvPr>
          <p:cNvSpPr/>
          <p:nvPr/>
        </p:nvSpPr>
        <p:spPr>
          <a:xfrm>
            <a:off x="252248" y="191814"/>
            <a:ext cx="11687503" cy="6474372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Orca Slicer - Free Open-Source 3D Model Slicing Software">
            <a:extLst>
              <a:ext uri="{FF2B5EF4-FFF2-40B4-BE49-F238E27FC236}">
                <a16:creationId xmlns:a16="http://schemas.microsoft.com/office/drawing/2014/main" id="{0D8C5ABC-8754-5E81-05D6-7FF1FDEA9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6449" y="722791"/>
            <a:ext cx="3419098" cy="3419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6529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E521A-C6E6-A509-0DC4-CA045C44D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9CD3-80C5-6B39-BBE8-2BE3CEE15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796" y="530817"/>
            <a:ext cx="6938855" cy="1189235"/>
          </a:xfrm>
        </p:spPr>
        <p:txBody>
          <a:bodyPr>
            <a:normAutofit/>
          </a:bodyPr>
          <a:lstStyle/>
          <a:p>
            <a:r>
              <a:rPr lang="en-CA" dirty="0"/>
              <a:t>Basic Printer Operations:</a:t>
            </a:r>
            <a:endParaRPr lang="en-CA" b="1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C4707A0-E3C0-1075-FF14-CC0CE4DFA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824" y="5935716"/>
            <a:ext cx="1273066" cy="6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2049AE-0F91-C29F-68E7-400B0AE0BE33}"/>
              </a:ext>
            </a:extLst>
          </p:cNvPr>
          <p:cNvSpPr txBox="1"/>
          <p:nvPr/>
        </p:nvSpPr>
        <p:spPr>
          <a:xfrm>
            <a:off x="7178674" y="5935716"/>
            <a:ext cx="3120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Core X-Y Printer Training Guide</a:t>
            </a:r>
          </a:p>
          <a:p>
            <a:pPr algn="r"/>
            <a:r>
              <a:rPr lang="en-US" sz="1400" dirty="0"/>
              <a:t>© The Vancouver Hackspace Society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353946-2771-1C44-0957-15EFE5961D27}"/>
              </a:ext>
            </a:extLst>
          </p:cNvPr>
          <p:cNvSpPr/>
          <p:nvPr/>
        </p:nvSpPr>
        <p:spPr>
          <a:xfrm>
            <a:off x="252248" y="191814"/>
            <a:ext cx="11687503" cy="6474372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85414A-B8AC-DD38-61D9-255E95752019}"/>
              </a:ext>
            </a:extLst>
          </p:cNvPr>
          <p:cNvSpPr txBox="1"/>
          <p:nvPr/>
        </p:nvSpPr>
        <p:spPr>
          <a:xfrm>
            <a:off x="4560888" y="2140435"/>
            <a:ext cx="32037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CA" sz="5400" dirty="0" err="1">
                <a:solidFill>
                  <a:srgbClr val="C00000"/>
                </a:solidFill>
              </a:rPr>
              <a:t>WebUI</a:t>
            </a:r>
            <a:endParaRPr lang="en-CA" sz="7200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6E5B61-F419-4FB3-2EE0-C029FC120CDA}"/>
              </a:ext>
            </a:extLst>
          </p:cNvPr>
          <p:cNvSpPr txBox="1"/>
          <p:nvPr/>
        </p:nvSpPr>
        <p:spPr>
          <a:xfrm>
            <a:off x="4560888" y="3429000"/>
            <a:ext cx="331225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CA" sz="2800" dirty="0"/>
              <a:t>Incognito Mode</a:t>
            </a:r>
          </a:p>
          <a:p>
            <a:pPr algn="ctr" fontAlgn="base"/>
            <a:endParaRPr lang="en-CA" sz="2800" dirty="0"/>
          </a:p>
          <a:p>
            <a:pPr algn="ctr" fontAlgn="base"/>
            <a:r>
              <a:rPr lang="en-CA" sz="2800" dirty="0"/>
              <a:t>NOMOS Credentials</a:t>
            </a:r>
          </a:p>
        </p:txBody>
      </p:sp>
    </p:spTree>
    <p:extLst>
      <p:ext uri="{BB962C8B-B14F-4D97-AF65-F5344CB8AC3E}">
        <p14:creationId xmlns:p14="http://schemas.microsoft.com/office/powerpoint/2010/main" val="294898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AFB66-C611-7A14-F36E-7BDE6B371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C891-86B9-3AD9-98E2-A6BC71EAB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796" y="530817"/>
            <a:ext cx="6938855" cy="1189235"/>
          </a:xfrm>
        </p:spPr>
        <p:txBody>
          <a:bodyPr>
            <a:normAutofit/>
          </a:bodyPr>
          <a:lstStyle/>
          <a:p>
            <a:r>
              <a:rPr lang="en-CA" dirty="0"/>
              <a:t>Basic Printer Operations:</a:t>
            </a:r>
            <a:endParaRPr lang="en-CA" b="1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ED572EA-CA77-9536-7803-6FFE30823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824" y="5935716"/>
            <a:ext cx="1273066" cy="6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B410A2-8EE5-FA2A-27DD-5C43FEF730AB}"/>
              </a:ext>
            </a:extLst>
          </p:cNvPr>
          <p:cNvSpPr txBox="1"/>
          <p:nvPr/>
        </p:nvSpPr>
        <p:spPr>
          <a:xfrm>
            <a:off x="7178674" y="5935716"/>
            <a:ext cx="3120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Core X-Y Printer Training Guide</a:t>
            </a:r>
          </a:p>
          <a:p>
            <a:pPr algn="r"/>
            <a:r>
              <a:rPr lang="en-US" sz="1400" dirty="0"/>
              <a:t>© The Vancouver Hackspace Society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419727-DEE7-9BAA-C85A-EF45E7A6B2D9}"/>
              </a:ext>
            </a:extLst>
          </p:cNvPr>
          <p:cNvSpPr/>
          <p:nvPr/>
        </p:nvSpPr>
        <p:spPr>
          <a:xfrm>
            <a:off x="252248" y="191814"/>
            <a:ext cx="11687503" cy="6474372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Adding Webcam support to MainsailOS">
            <a:extLst>
              <a:ext uri="{FF2B5EF4-FFF2-40B4-BE49-F238E27FC236}">
                <a16:creationId xmlns:a16="http://schemas.microsoft.com/office/drawing/2014/main" id="{7688D564-DB91-5764-525E-7B852303F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8008" y="1700062"/>
            <a:ext cx="6075981" cy="172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CAB25B-280E-AE52-A4F4-537ECD55A23F}"/>
              </a:ext>
            </a:extLst>
          </p:cNvPr>
          <p:cNvSpPr txBox="1"/>
          <p:nvPr/>
        </p:nvSpPr>
        <p:spPr>
          <a:xfrm>
            <a:off x="1151260" y="3469634"/>
            <a:ext cx="435063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CA" sz="2800" dirty="0"/>
              <a:t>Emergency Stop</a:t>
            </a:r>
          </a:p>
          <a:p>
            <a:pPr fontAlgn="base"/>
            <a:endParaRPr lang="en-CA" sz="2800" dirty="0"/>
          </a:p>
          <a:p>
            <a:pPr fontAlgn="base"/>
            <a:r>
              <a:rPr lang="en-CA" sz="2800" dirty="0"/>
              <a:t>Homing</a:t>
            </a:r>
          </a:p>
          <a:p>
            <a:pPr fontAlgn="base"/>
            <a:endParaRPr lang="en-CA" sz="2800" dirty="0"/>
          </a:p>
          <a:p>
            <a:pPr fontAlgn="base"/>
            <a:r>
              <a:rPr lang="en-CA" sz="2800" dirty="0"/>
              <a:t>Filament load/ unload</a:t>
            </a:r>
          </a:p>
          <a:p>
            <a:pPr fontAlgn="base"/>
            <a:endParaRPr lang="en-CA" sz="2800" dirty="0"/>
          </a:p>
          <a:p>
            <a:pPr fontAlgn="base"/>
            <a:endParaRPr lang="en-CA" sz="2800" dirty="0"/>
          </a:p>
          <a:p>
            <a:pPr fontAlgn="base"/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4293633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6E7B2-5C27-5113-9552-EA493809F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BE4190A2-AD86-4FBB-4F58-C1297021F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824" y="5935716"/>
            <a:ext cx="1273066" cy="6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206133-A366-704D-CCC0-2C861DEEC578}"/>
              </a:ext>
            </a:extLst>
          </p:cNvPr>
          <p:cNvSpPr txBox="1"/>
          <p:nvPr/>
        </p:nvSpPr>
        <p:spPr>
          <a:xfrm>
            <a:off x="7178674" y="5935716"/>
            <a:ext cx="3120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Core X-Y Printer Training Guide</a:t>
            </a:r>
          </a:p>
          <a:p>
            <a:pPr algn="r"/>
            <a:r>
              <a:rPr lang="en-US" sz="1400" dirty="0"/>
              <a:t>© The Vancouver Hackspace Society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CFBC36-278E-B25F-2E56-F18BB7DB345E}"/>
              </a:ext>
            </a:extLst>
          </p:cNvPr>
          <p:cNvSpPr/>
          <p:nvPr/>
        </p:nvSpPr>
        <p:spPr>
          <a:xfrm>
            <a:off x="252248" y="191814"/>
            <a:ext cx="11687503" cy="6474372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2" name="Picture 2" descr="Page 2 | Hot clipart Images - Free Download on Magnific (formerly Freepik)">
            <a:extLst>
              <a:ext uri="{FF2B5EF4-FFF2-40B4-BE49-F238E27FC236}">
                <a16:creationId xmlns:a16="http://schemas.microsoft.com/office/drawing/2014/main" id="{D68C9273-4B14-E5CB-ABC5-A24068CAB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401" y="1055800"/>
            <a:ext cx="2805193" cy="2805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AD876D-5F11-329D-0E39-60695EAA1EE3}"/>
              </a:ext>
            </a:extLst>
          </p:cNvPr>
          <p:cNvSpPr txBox="1"/>
          <p:nvPr/>
        </p:nvSpPr>
        <p:spPr>
          <a:xfrm>
            <a:off x="2755917" y="3860993"/>
            <a:ext cx="668016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CA" sz="5400" dirty="0"/>
              <a:t>Chamber Temperature</a:t>
            </a:r>
          </a:p>
          <a:p>
            <a:pPr algn="ctr" fontAlgn="base"/>
            <a:r>
              <a:rPr lang="en-CA" sz="2400" dirty="0"/>
              <a:t>When to heat soak vs leave the door open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178879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134B2-DC50-7310-1820-1E335261F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D86B0255-E919-E703-0805-B4FFA3F1F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824" y="5935716"/>
            <a:ext cx="1273066" cy="6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2FC8AF-C8EC-34DD-18B9-96CB6C948032}"/>
              </a:ext>
            </a:extLst>
          </p:cNvPr>
          <p:cNvSpPr txBox="1"/>
          <p:nvPr/>
        </p:nvSpPr>
        <p:spPr>
          <a:xfrm>
            <a:off x="7178674" y="5935716"/>
            <a:ext cx="3120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Core X-Y Printer Training Guide</a:t>
            </a:r>
          </a:p>
          <a:p>
            <a:pPr algn="r"/>
            <a:r>
              <a:rPr lang="en-US" sz="1400" dirty="0"/>
              <a:t>© The Vancouver Hackspace Society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E7F38F-2027-BEBC-2E17-E4965C19B6B1}"/>
              </a:ext>
            </a:extLst>
          </p:cNvPr>
          <p:cNvSpPr/>
          <p:nvPr/>
        </p:nvSpPr>
        <p:spPr>
          <a:xfrm>
            <a:off x="252248" y="191814"/>
            <a:ext cx="11687503" cy="6474372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AAF68B-151B-4BFA-B8E0-9D3D17FB8EE0}"/>
              </a:ext>
            </a:extLst>
          </p:cNvPr>
          <p:cNvSpPr txBox="1"/>
          <p:nvPr/>
        </p:nvSpPr>
        <p:spPr>
          <a:xfrm>
            <a:off x="4014062" y="3429000"/>
            <a:ext cx="49260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CA" sz="5400" dirty="0"/>
              <a:t>Start your print!</a:t>
            </a:r>
          </a:p>
        </p:txBody>
      </p:sp>
      <p:pic>
        <p:nvPicPr>
          <p:cNvPr id="2" name="Picture 2" descr="Adding Webcam support to MainsailOS">
            <a:extLst>
              <a:ext uri="{FF2B5EF4-FFF2-40B4-BE49-F238E27FC236}">
                <a16:creationId xmlns:a16="http://schemas.microsoft.com/office/drawing/2014/main" id="{8F3EC670-A895-E210-EB91-E76D63E07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8008" y="470358"/>
            <a:ext cx="6075981" cy="172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4744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F5F4E-9024-3E1A-E9BF-DC924CDD3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5DDDD172-D828-3976-F387-4C211D02E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824" y="5935716"/>
            <a:ext cx="1273066" cy="6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380959-16D7-BCD2-A46B-41C57583A738}"/>
              </a:ext>
            </a:extLst>
          </p:cNvPr>
          <p:cNvSpPr txBox="1"/>
          <p:nvPr/>
        </p:nvSpPr>
        <p:spPr>
          <a:xfrm>
            <a:off x="7178674" y="5935716"/>
            <a:ext cx="3120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Core X-Y Printer Training Guide</a:t>
            </a:r>
          </a:p>
          <a:p>
            <a:pPr algn="r"/>
            <a:r>
              <a:rPr lang="en-US" sz="1400" dirty="0"/>
              <a:t>© The Vancouver Hackspace Society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F39CF0-02AF-13AF-F27B-65F9B3E6F3A2}"/>
              </a:ext>
            </a:extLst>
          </p:cNvPr>
          <p:cNvSpPr/>
          <p:nvPr/>
        </p:nvSpPr>
        <p:spPr>
          <a:xfrm>
            <a:off x="252248" y="191814"/>
            <a:ext cx="11687503" cy="6474372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F0E2F3-A43C-8CF9-902B-4A88997BC7A0}"/>
              </a:ext>
            </a:extLst>
          </p:cNvPr>
          <p:cNvSpPr txBox="1"/>
          <p:nvPr/>
        </p:nvSpPr>
        <p:spPr>
          <a:xfrm>
            <a:off x="4060557" y="3144176"/>
            <a:ext cx="49260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CA" sz="5400" dirty="0"/>
              <a:t>Object Exclusion</a:t>
            </a:r>
          </a:p>
        </p:txBody>
      </p:sp>
      <p:pic>
        <p:nvPicPr>
          <p:cNvPr id="2" name="Picture 2" descr="Adding Webcam support to MainsailOS">
            <a:extLst>
              <a:ext uri="{FF2B5EF4-FFF2-40B4-BE49-F238E27FC236}">
                <a16:creationId xmlns:a16="http://schemas.microsoft.com/office/drawing/2014/main" id="{8F6AF681-6E98-29D8-9C4A-1DA5CE178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8008" y="470358"/>
            <a:ext cx="6075981" cy="172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4066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C427-F30C-D3BD-A729-488F9053F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A949FDC9-8980-9D44-E6E2-C2D5EE0C3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824" y="5935716"/>
            <a:ext cx="1273066" cy="6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F2C9CA-06DD-E9DA-43C0-2AA5A8A94C22}"/>
              </a:ext>
            </a:extLst>
          </p:cNvPr>
          <p:cNvSpPr txBox="1"/>
          <p:nvPr/>
        </p:nvSpPr>
        <p:spPr>
          <a:xfrm>
            <a:off x="7178674" y="5935716"/>
            <a:ext cx="3120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Core X-Y Printer Training Guide</a:t>
            </a:r>
          </a:p>
          <a:p>
            <a:pPr algn="r"/>
            <a:r>
              <a:rPr lang="en-US" sz="1400" dirty="0"/>
              <a:t>© The Vancouver Hackspace Society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182EE3-513A-8EA9-67AA-70EEF7B4DDF6}"/>
              </a:ext>
            </a:extLst>
          </p:cNvPr>
          <p:cNvSpPr/>
          <p:nvPr/>
        </p:nvSpPr>
        <p:spPr>
          <a:xfrm>
            <a:off x="252248" y="191814"/>
            <a:ext cx="11687503" cy="6474372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EFA152-38CB-F2B6-8E93-7AA5E72DB80C}"/>
              </a:ext>
            </a:extLst>
          </p:cNvPr>
          <p:cNvSpPr txBox="1"/>
          <p:nvPr/>
        </p:nvSpPr>
        <p:spPr>
          <a:xfrm>
            <a:off x="1813302" y="3047746"/>
            <a:ext cx="94074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CA" sz="5400" dirty="0"/>
              <a:t>What not to mess with and why</a:t>
            </a:r>
          </a:p>
        </p:txBody>
      </p:sp>
      <p:pic>
        <p:nvPicPr>
          <p:cNvPr id="2" name="Picture 2" descr="Adding Webcam support to MainsailOS">
            <a:extLst>
              <a:ext uri="{FF2B5EF4-FFF2-40B4-BE49-F238E27FC236}">
                <a16:creationId xmlns:a16="http://schemas.microsoft.com/office/drawing/2014/main" id="{48AD0AE1-FAE2-F601-72DA-55064D0B6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8008" y="470358"/>
            <a:ext cx="6075981" cy="172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9702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36EB1-E2D4-AB3E-5688-FDF10EE9F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318DC2CB-6C2A-94BA-0100-8348E188B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824" y="5935716"/>
            <a:ext cx="1273066" cy="6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144B8A-ACC2-BEF9-9F7A-FEB472AB7A5D}"/>
              </a:ext>
            </a:extLst>
          </p:cNvPr>
          <p:cNvSpPr txBox="1"/>
          <p:nvPr/>
        </p:nvSpPr>
        <p:spPr>
          <a:xfrm>
            <a:off x="7178674" y="5935716"/>
            <a:ext cx="3120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Core X-Y Printer Training Guide</a:t>
            </a:r>
          </a:p>
          <a:p>
            <a:pPr algn="r"/>
            <a:r>
              <a:rPr lang="en-US" sz="1400" dirty="0"/>
              <a:t>© The Vancouver Hackspace Society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B65FBA-1F05-61BE-B4C0-109A255D6CC8}"/>
              </a:ext>
            </a:extLst>
          </p:cNvPr>
          <p:cNvSpPr/>
          <p:nvPr/>
        </p:nvSpPr>
        <p:spPr>
          <a:xfrm>
            <a:off x="252248" y="191814"/>
            <a:ext cx="11687503" cy="6474372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7E17B6-6D54-A014-77EB-3DB9C0C3C958}"/>
              </a:ext>
            </a:extLst>
          </p:cNvPr>
          <p:cNvSpPr txBox="1"/>
          <p:nvPr/>
        </p:nvSpPr>
        <p:spPr>
          <a:xfrm>
            <a:off x="1813302" y="3047746"/>
            <a:ext cx="94074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CA" sz="5400" dirty="0"/>
              <a:t>What not to mess with and why</a:t>
            </a:r>
          </a:p>
        </p:txBody>
      </p:sp>
      <p:pic>
        <p:nvPicPr>
          <p:cNvPr id="2" name="Picture 2" descr="Adding Webcam support to MainsailOS">
            <a:extLst>
              <a:ext uri="{FF2B5EF4-FFF2-40B4-BE49-F238E27FC236}">
                <a16:creationId xmlns:a16="http://schemas.microsoft.com/office/drawing/2014/main" id="{91748770-732F-ED1F-ABC5-A71F13F12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8008" y="470358"/>
            <a:ext cx="6075981" cy="172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6558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29CC3-5B48-243B-5A57-B90543EDF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F3FB77F4-23F0-137E-FCD7-0508D0F3E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824" y="5935716"/>
            <a:ext cx="1273066" cy="6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CF2487-C503-352F-B580-6DAAF4963C94}"/>
              </a:ext>
            </a:extLst>
          </p:cNvPr>
          <p:cNvSpPr txBox="1"/>
          <p:nvPr/>
        </p:nvSpPr>
        <p:spPr>
          <a:xfrm>
            <a:off x="7178674" y="5935716"/>
            <a:ext cx="3120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Core X-Y Printer Training Guide</a:t>
            </a:r>
          </a:p>
          <a:p>
            <a:pPr algn="r"/>
            <a:r>
              <a:rPr lang="en-US" sz="1400" dirty="0"/>
              <a:t>© The Vancouver Hackspace Society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2EBCA3-F04C-BAAA-E9E7-8E8FD3826C0D}"/>
              </a:ext>
            </a:extLst>
          </p:cNvPr>
          <p:cNvSpPr/>
          <p:nvPr/>
        </p:nvSpPr>
        <p:spPr>
          <a:xfrm>
            <a:off x="252248" y="191814"/>
            <a:ext cx="11687503" cy="6474372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6" descr="LDO Motors Voron 2.4 350 Kit - 3DJake International">
            <a:extLst>
              <a:ext uri="{FF2B5EF4-FFF2-40B4-BE49-F238E27FC236}">
                <a16:creationId xmlns:a16="http://schemas.microsoft.com/office/drawing/2014/main" id="{F3054A37-B30A-479C-0454-B20DC0182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09" y="1252170"/>
            <a:ext cx="3635007" cy="378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D58768-AC1B-6A2C-7874-6C7ACFA76367}"/>
              </a:ext>
            </a:extLst>
          </p:cNvPr>
          <p:cNvSpPr txBox="1"/>
          <p:nvPr/>
        </p:nvSpPr>
        <p:spPr>
          <a:xfrm>
            <a:off x="4045058" y="2967335"/>
            <a:ext cx="66642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CA" sz="5400" dirty="0"/>
              <a:t>While it prints…</a:t>
            </a:r>
          </a:p>
        </p:txBody>
      </p:sp>
    </p:spTree>
    <p:extLst>
      <p:ext uri="{BB962C8B-B14F-4D97-AF65-F5344CB8AC3E}">
        <p14:creationId xmlns:p14="http://schemas.microsoft.com/office/powerpoint/2010/main" val="3064698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08FE6-C9BB-1CF9-B1D8-8CF4CD132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0719F362-D707-C168-E793-F3727928E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824" y="5935716"/>
            <a:ext cx="1273066" cy="6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2190C6-990D-3608-1FFB-43113FB7FFF9}"/>
              </a:ext>
            </a:extLst>
          </p:cNvPr>
          <p:cNvSpPr txBox="1"/>
          <p:nvPr/>
        </p:nvSpPr>
        <p:spPr>
          <a:xfrm>
            <a:off x="7178674" y="5935716"/>
            <a:ext cx="3120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Core X-Y Printer Training Guide</a:t>
            </a:r>
          </a:p>
          <a:p>
            <a:pPr algn="r"/>
            <a:r>
              <a:rPr lang="en-US" sz="1400" dirty="0"/>
              <a:t>© The Vancouver Hackspace Society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B79FB9-A6B6-8D44-10C8-799D9D93D0F8}"/>
              </a:ext>
            </a:extLst>
          </p:cNvPr>
          <p:cNvSpPr/>
          <p:nvPr/>
        </p:nvSpPr>
        <p:spPr>
          <a:xfrm>
            <a:off x="252248" y="191814"/>
            <a:ext cx="11687503" cy="6474372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6" descr="LDO Motors Voron 2.4 350 Kit - 3DJake International">
            <a:extLst>
              <a:ext uri="{FF2B5EF4-FFF2-40B4-BE49-F238E27FC236}">
                <a16:creationId xmlns:a16="http://schemas.microsoft.com/office/drawing/2014/main" id="{0E02EB1B-EB2A-FFAA-E592-788E2449C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09" y="1252170"/>
            <a:ext cx="3635007" cy="378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D5C8B4-8EE6-0669-CF4E-FE2BD4B8460B}"/>
              </a:ext>
            </a:extLst>
          </p:cNvPr>
          <p:cNvSpPr txBox="1"/>
          <p:nvPr/>
        </p:nvSpPr>
        <p:spPr>
          <a:xfrm>
            <a:off x="4745720" y="2967335"/>
            <a:ext cx="66642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CA" sz="5400" dirty="0"/>
              <a:t>Calibrating Filaments</a:t>
            </a:r>
          </a:p>
        </p:txBody>
      </p:sp>
    </p:spTree>
    <p:extLst>
      <p:ext uri="{BB962C8B-B14F-4D97-AF65-F5344CB8AC3E}">
        <p14:creationId xmlns:p14="http://schemas.microsoft.com/office/powerpoint/2010/main" val="1487052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DCC01-53B6-BE75-8D22-52D9A0E79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D5CD66CE-AFC1-8298-74A8-902EAFC4E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824" y="5935716"/>
            <a:ext cx="1273066" cy="6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EE6295-F470-41FC-8131-86AC8BFB4C52}"/>
              </a:ext>
            </a:extLst>
          </p:cNvPr>
          <p:cNvSpPr txBox="1"/>
          <p:nvPr/>
        </p:nvSpPr>
        <p:spPr>
          <a:xfrm>
            <a:off x="7178674" y="5935716"/>
            <a:ext cx="3120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Core X-Y Printer Training Guide</a:t>
            </a:r>
          </a:p>
          <a:p>
            <a:pPr algn="r"/>
            <a:r>
              <a:rPr lang="en-US" sz="1400" dirty="0"/>
              <a:t>© The Vancouver Hackspace Society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E7BC79-DB72-DF37-D8FD-E7E28098281A}"/>
              </a:ext>
            </a:extLst>
          </p:cNvPr>
          <p:cNvSpPr/>
          <p:nvPr/>
        </p:nvSpPr>
        <p:spPr>
          <a:xfrm>
            <a:off x="252248" y="191814"/>
            <a:ext cx="11687503" cy="6474372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6" descr="LDO Motors Voron 2.4 350 Kit - 3DJake International">
            <a:extLst>
              <a:ext uri="{FF2B5EF4-FFF2-40B4-BE49-F238E27FC236}">
                <a16:creationId xmlns:a16="http://schemas.microsoft.com/office/drawing/2014/main" id="{E6A4B48C-0320-901E-4DB1-3FC0ABCE7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09" y="1252170"/>
            <a:ext cx="3635007" cy="378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26F785-69AD-825A-517B-622DFA79C8E0}"/>
              </a:ext>
            </a:extLst>
          </p:cNvPr>
          <p:cNvSpPr txBox="1"/>
          <p:nvPr/>
        </p:nvSpPr>
        <p:spPr>
          <a:xfrm>
            <a:off x="4846248" y="1305341"/>
            <a:ext cx="666427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CA" sz="3200" dirty="0"/>
              <a:t>Temperature Tower</a:t>
            </a:r>
          </a:p>
          <a:p>
            <a:pPr fontAlgn="base"/>
            <a:endParaRPr lang="en-CA" sz="3200" dirty="0"/>
          </a:p>
          <a:p>
            <a:pPr fontAlgn="base"/>
            <a:r>
              <a:rPr lang="en-CA" sz="3200" dirty="0"/>
              <a:t> </a:t>
            </a:r>
          </a:p>
          <a:p>
            <a:pPr fontAlgn="base"/>
            <a:r>
              <a:rPr lang="en-CA" sz="3200" dirty="0"/>
              <a:t>Pressure Advance</a:t>
            </a:r>
          </a:p>
          <a:p>
            <a:pPr fontAlgn="base"/>
            <a:endParaRPr lang="en-CA" sz="3200" dirty="0"/>
          </a:p>
          <a:p>
            <a:pPr fontAlgn="base"/>
            <a:endParaRPr lang="en-CA" sz="3200" dirty="0"/>
          </a:p>
          <a:p>
            <a:pPr fontAlgn="base"/>
            <a:r>
              <a:rPr lang="en-CA" sz="3200" dirty="0"/>
              <a:t>Flow Ratio</a:t>
            </a:r>
          </a:p>
          <a:p>
            <a:pPr fontAlgn="base"/>
            <a:endParaRPr lang="en-CA" sz="3200" dirty="0"/>
          </a:p>
          <a:p>
            <a:pPr fontAlgn="base"/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75950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62A42-CC06-42D6-0802-AC035D3E9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A54AC-5AE3-BA0D-4CF7-782C0A213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441" y="2700429"/>
            <a:ext cx="2659117" cy="1775133"/>
          </a:xfrm>
        </p:spPr>
        <p:txBody>
          <a:bodyPr>
            <a:normAutofit/>
          </a:bodyPr>
          <a:lstStyle/>
          <a:p>
            <a:r>
              <a:rPr lang="en-US" sz="4800" b="1" dirty="0"/>
              <a:t>Clean up!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28B4FF9-9CB2-9EB9-52DB-34F44F573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824" y="5935716"/>
            <a:ext cx="1273066" cy="63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B24C3B-12AE-9FAA-8F23-3E4109DEAB8A}"/>
              </a:ext>
            </a:extLst>
          </p:cNvPr>
          <p:cNvSpPr txBox="1"/>
          <p:nvPr/>
        </p:nvSpPr>
        <p:spPr>
          <a:xfrm>
            <a:off x="7178674" y="5935716"/>
            <a:ext cx="31201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Core X-Y Printer Training Guide</a:t>
            </a:r>
          </a:p>
          <a:p>
            <a:pPr algn="r"/>
            <a:r>
              <a:rPr lang="en-US" sz="1400" dirty="0"/>
              <a:t>© The Vancouver Hackspace Society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5702B7-35E0-CB1C-12DA-9419F341DF13}"/>
              </a:ext>
            </a:extLst>
          </p:cNvPr>
          <p:cNvSpPr/>
          <p:nvPr/>
        </p:nvSpPr>
        <p:spPr>
          <a:xfrm>
            <a:off x="252248" y="191814"/>
            <a:ext cx="11687503" cy="6474372"/>
          </a:xfrm>
          <a:prstGeom prst="rect">
            <a:avLst/>
          </a:prstGeom>
          <a:noFill/>
          <a:ln w="476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609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</TotalTime>
  <Words>530</Words>
  <Application>Microsoft Macintosh PowerPoint</Application>
  <PresentationFormat>Widescreen</PresentationFormat>
  <Paragraphs>112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-apple-system</vt:lpstr>
      <vt:lpstr>Arial</vt:lpstr>
      <vt:lpstr>Calibri</vt:lpstr>
      <vt:lpstr>Calibri Light</vt:lpstr>
      <vt:lpstr>Helvetica</vt:lpstr>
      <vt:lpstr>Office Theme</vt:lpstr>
      <vt:lpstr>Core X-Y Printer Printer Training Guide</vt:lpstr>
      <vt:lpstr>Our Core X-Y Printers</vt:lpstr>
      <vt:lpstr>What is Core X-Y Printer</vt:lpstr>
      <vt:lpstr>The Voron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 to Orca:</vt:lpstr>
      <vt:lpstr>Prepare Your File!</vt:lpstr>
      <vt:lpstr>Basic Printer Operations:</vt:lpstr>
      <vt:lpstr>Basic Printer Operations: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Clean up!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Adheesh Parelkar</dc:creator>
  <cp:lastModifiedBy>Adheesh Parelkar</cp:lastModifiedBy>
  <cp:revision>26</cp:revision>
  <dcterms:created xsi:type="dcterms:W3CDTF">2025-07-19T05:15:51Z</dcterms:created>
  <dcterms:modified xsi:type="dcterms:W3CDTF">2026-08-30T23:21:12Z</dcterms:modified>
</cp:coreProperties>
</file>